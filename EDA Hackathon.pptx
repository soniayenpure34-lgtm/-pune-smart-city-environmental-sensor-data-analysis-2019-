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0"/>
  </p:notesMasterIdLst>
  <p:sldIdLst>
    <p:sldId id="256" r:id="rId2"/>
    <p:sldId id="311" r:id="rId3"/>
    <p:sldId id="312" r:id="rId4"/>
    <p:sldId id="313" r:id="rId5"/>
    <p:sldId id="315" r:id="rId6"/>
    <p:sldId id="314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</p:sldIdLst>
  <p:sldSz cx="9144000" cy="5143500" type="screen16x9"/>
  <p:notesSz cx="6858000" cy="9144000"/>
  <p:embeddedFontLst>
    <p:embeddedFont>
      <p:font typeface="Hind Madurai" panose="02000000000000000000" pitchFamily="2" charset="0"/>
      <p:regular r:id="rId21"/>
      <p:bold r:id="rId22"/>
    </p:embeddedFont>
    <p:embeddedFont>
      <p:font typeface="Kumbh Sans" panose="020B0604020202020204" charset="0"/>
      <p:regular r:id="rId23"/>
      <p:bold r:id="rId24"/>
    </p:embeddedFont>
    <p:embeddedFont>
      <p:font typeface="Lexend Deca" panose="020B0604020202020204" charset="0"/>
      <p:regular r:id="rId25"/>
    </p:embeddedFont>
    <p:embeddedFont>
      <p:font typeface="Nunito Light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E5B064-6835-42FC-B2DB-4ABBB4FAE631}">
  <a:tblStyle styleId="{CBE5B064-6835-42FC-B2DB-4ABBB4FAE6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482C2AF-2C24-407E-A0C1-793BCA8C9D5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5975" autoAdjust="0"/>
  </p:normalViewPr>
  <p:slideViewPr>
    <p:cSldViewPr snapToGrid="0">
      <p:cViewPr varScale="1">
        <p:scale>
          <a:sx n="130" d="100"/>
          <a:sy n="130" d="100"/>
        </p:scale>
        <p:origin x="82" y="115"/>
      </p:cViewPr>
      <p:guideLst/>
    </p:cSldViewPr>
  </p:slideViewPr>
  <p:outlineViewPr>
    <p:cViewPr>
      <p:scale>
        <a:sx n="33" d="100"/>
        <a:sy n="33" d="100"/>
      </p:scale>
      <p:origin x="0" y="-325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a67f74c947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a67f74c947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473" b="21844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532746" y="-355135"/>
            <a:ext cx="10588747" cy="6403332"/>
            <a:chOff x="-532746" y="-355135"/>
            <a:chExt cx="10588747" cy="6403332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330482">
              <a:off x="-316500" y="4073125"/>
              <a:ext cx="2309200" cy="15984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5000"/>
                </a:srgbClr>
              </a:outerShdw>
            </a:effectLst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05075" y="-355135"/>
              <a:ext cx="1950926" cy="127395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5000"/>
                </a:srgbClr>
              </a:outerShdw>
            </a:effectLst>
          </p:spPr>
        </p:pic>
      </p:grpSp>
      <p:grpSp>
        <p:nvGrpSpPr>
          <p:cNvPr id="13" name="Google Shape;13;p2"/>
          <p:cNvGrpSpPr/>
          <p:nvPr/>
        </p:nvGrpSpPr>
        <p:grpSpPr>
          <a:xfrm>
            <a:off x="-779651" y="-855445"/>
            <a:ext cx="1990421" cy="2420594"/>
            <a:chOff x="-779651" y="-855445"/>
            <a:chExt cx="1990421" cy="2420594"/>
          </a:xfrm>
        </p:grpSpPr>
        <p:pic>
          <p:nvPicPr>
            <p:cNvPr id="14" name="Google Shape;14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37203" flipH="1">
              <a:off x="-522521" y="-163958"/>
              <a:ext cx="1466142" cy="148771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5000"/>
                </a:srgbClr>
              </a:outerShdw>
            </a:effectLst>
          </p:spPr>
        </p:pic>
        <p:pic>
          <p:nvPicPr>
            <p:cNvPr id="15" name="Google Shape;15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4969662" flipH="1">
              <a:off x="-430310" y="-776360"/>
              <a:ext cx="1538632" cy="156366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5000"/>
                </a:srgbClr>
              </a:outerShdw>
            </a:effectLst>
          </p:spPr>
        </p:pic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713225" y="1588926"/>
            <a:ext cx="4026600" cy="15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713225" y="3183775"/>
            <a:ext cx="40266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>
            <a:spLocks noGrp="1"/>
          </p:cNvSpPr>
          <p:nvPr>
            <p:ph type="pic" idx="2"/>
          </p:nvPr>
        </p:nvSpPr>
        <p:spPr>
          <a:xfrm>
            <a:off x="5071600" y="971025"/>
            <a:ext cx="3201600" cy="3201600"/>
          </a:xfrm>
          <a:prstGeom prst="ellipse">
            <a:avLst/>
          </a:prstGeom>
          <a:noFill/>
          <a:ln>
            <a:noFill/>
          </a:ln>
          <a:effectLst>
            <a:outerShdw blurRad="28575" dist="57150" dir="660000" algn="bl" rotWithShape="0">
              <a:srgbClr val="000000">
                <a:alpha val="30000"/>
              </a:srgbClr>
            </a:outerShdw>
          </a:effectLst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2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/>
          <p:cNvPicPr preferRelativeResize="0"/>
          <p:nvPr/>
        </p:nvPicPr>
        <p:blipFill rotWithShape="1">
          <a:blip r:embed="rId2">
            <a:alphaModFix/>
          </a:blip>
          <a:srcRect t="473" b="21844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65" name="Google Shape;165;p19"/>
          <p:cNvGrpSpPr/>
          <p:nvPr/>
        </p:nvGrpSpPr>
        <p:grpSpPr>
          <a:xfrm>
            <a:off x="-895525" y="-777023"/>
            <a:ext cx="10927453" cy="6026523"/>
            <a:chOff x="-895525" y="-777023"/>
            <a:chExt cx="10927453" cy="6026523"/>
          </a:xfrm>
        </p:grpSpPr>
        <p:pic>
          <p:nvPicPr>
            <p:cNvPr id="166" name="Google Shape;166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895525" y="4068850"/>
              <a:ext cx="1705675" cy="118065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3000"/>
                </a:srgbClr>
              </a:outerShdw>
            </a:effectLst>
          </p:spPr>
        </p:pic>
        <p:pic>
          <p:nvPicPr>
            <p:cNvPr id="167" name="Google Shape;167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946869">
              <a:off x="7974632" y="-541814"/>
              <a:ext cx="1913265" cy="132432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</p:pic>
      </p:grpSp>
      <p:pic>
        <p:nvPicPr>
          <p:cNvPr id="168" name="Google Shape;16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978976" flipH="1">
            <a:off x="8145563" y="4414578"/>
            <a:ext cx="1706284" cy="1008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6000"/>
              </a:srgbClr>
            </a:outerShdw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/>
          <p:cNvPicPr preferRelativeResize="0"/>
          <p:nvPr/>
        </p:nvPicPr>
        <p:blipFill rotWithShape="1">
          <a:blip r:embed="rId2">
            <a:alphaModFix/>
          </a:blip>
          <a:srcRect t="473" b="21844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subTitle" idx="1"/>
          </p:nvPr>
        </p:nvSpPr>
        <p:spPr>
          <a:xfrm>
            <a:off x="4494100" y="1787325"/>
            <a:ext cx="3571200" cy="22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subTitle" idx="2"/>
          </p:nvPr>
        </p:nvSpPr>
        <p:spPr>
          <a:xfrm>
            <a:off x="720000" y="1787325"/>
            <a:ext cx="3571200" cy="22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5" name="Google Shape;185;p21"/>
          <p:cNvGrpSpPr/>
          <p:nvPr/>
        </p:nvGrpSpPr>
        <p:grpSpPr>
          <a:xfrm>
            <a:off x="-820575" y="-777023"/>
            <a:ext cx="10852503" cy="5862848"/>
            <a:chOff x="-820575" y="-777023"/>
            <a:chExt cx="10852503" cy="5862848"/>
          </a:xfrm>
        </p:grpSpPr>
        <p:pic>
          <p:nvPicPr>
            <p:cNvPr id="186" name="Google Shape;18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820575" y="3905175"/>
              <a:ext cx="1705675" cy="118065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3000"/>
                </a:srgbClr>
              </a:outerShdw>
            </a:effectLst>
          </p:spPr>
        </p:pic>
        <p:pic>
          <p:nvPicPr>
            <p:cNvPr id="187" name="Google Shape;18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946869">
              <a:off x="7974632" y="-541814"/>
              <a:ext cx="1913265" cy="132432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</p:pic>
      </p:grpSp>
      <p:pic>
        <p:nvPicPr>
          <p:cNvPr id="188" name="Google Shape;18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978976" flipH="1">
            <a:off x="8145563" y="4414578"/>
            <a:ext cx="1706284" cy="1008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6000"/>
              </a:srgbClr>
            </a:outerShdw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1"/>
          <p:cNvPicPr preferRelativeResize="0"/>
          <p:nvPr/>
        </p:nvPicPr>
        <p:blipFill rotWithShape="1">
          <a:blip r:embed="rId2">
            <a:alphaModFix/>
          </a:blip>
          <a:srcRect t="473" b="21844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p31"/>
          <p:cNvGrpSpPr/>
          <p:nvPr/>
        </p:nvGrpSpPr>
        <p:grpSpPr>
          <a:xfrm>
            <a:off x="-820575" y="-777023"/>
            <a:ext cx="10852503" cy="5862848"/>
            <a:chOff x="-820575" y="-777023"/>
            <a:chExt cx="10852503" cy="5862848"/>
          </a:xfrm>
        </p:grpSpPr>
        <p:pic>
          <p:nvPicPr>
            <p:cNvPr id="294" name="Google Shape;294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820575" y="3905175"/>
              <a:ext cx="1705675" cy="118065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3000"/>
                </a:srgbClr>
              </a:outerShdw>
            </a:effectLst>
          </p:spPr>
        </p:pic>
        <p:pic>
          <p:nvPicPr>
            <p:cNvPr id="295" name="Google Shape;29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946869">
              <a:off x="7974632" y="-541814"/>
              <a:ext cx="1913265" cy="132432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</p:pic>
      </p:grpSp>
      <p:pic>
        <p:nvPicPr>
          <p:cNvPr id="296" name="Google Shape;29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978976" flipH="1">
            <a:off x="8145563" y="4414578"/>
            <a:ext cx="1706284" cy="1008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6000"/>
              </a:srgbClr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2"/>
          <p:cNvPicPr preferRelativeResize="0"/>
          <p:nvPr/>
        </p:nvPicPr>
        <p:blipFill rotWithShape="1">
          <a:blip r:embed="rId2">
            <a:alphaModFix/>
          </a:blip>
          <a:srcRect t="473" b="21844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32"/>
          <p:cNvGrpSpPr/>
          <p:nvPr/>
        </p:nvGrpSpPr>
        <p:grpSpPr>
          <a:xfrm>
            <a:off x="-360399" y="181548"/>
            <a:ext cx="10148974" cy="1983652"/>
            <a:chOff x="-360399" y="181548"/>
            <a:chExt cx="10148974" cy="1983652"/>
          </a:xfrm>
        </p:grpSpPr>
        <p:pic>
          <p:nvPicPr>
            <p:cNvPr id="300" name="Google Shape;30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330475">
              <a:off x="7920394" y="704163"/>
              <a:ext cx="1708214" cy="11823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5000"/>
                </a:srgbClr>
              </a:outerShdw>
            </a:effectLst>
          </p:spPr>
        </p:pic>
        <p:pic>
          <p:nvPicPr>
            <p:cNvPr id="301" name="Google Shape;30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360399" y="181548"/>
              <a:ext cx="1570974" cy="102584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5000"/>
                </a:srgbClr>
              </a:outerShdw>
            </a:effectLst>
          </p:spPr>
        </p:pic>
      </p:grpSp>
      <p:pic>
        <p:nvPicPr>
          <p:cNvPr id="302" name="Google Shape;30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180651">
            <a:off x="-704350" y="3872373"/>
            <a:ext cx="1920798" cy="174796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6000"/>
              </a:srgbClr>
            </a:outerShdw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Kumbh Sans"/>
              <a:buNone/>
              <a:defRPr sz="33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●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○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■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●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○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■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●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○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Hind Madurai"/>
              <a:buChar char="■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5" r:id="rId3"/>
    <p:sldLayoutId id="2147483667" r:id="rId4"/>
    <p:sldLayoutId id="2147483677" r:id="rId5"/>
    <p:sldLayoutId id="214748367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36"/>
          <p:cNvGrpSpPr/>
          <p:nvPr/>
        </p:nvGrpSpPr>
        <p:grpSpPr>
          <a:xfrm>
            <a:off x="6805399" y="813290"/>
            <a:ext cx="2615384" cy="4147110"/>
            <a:chOff x="6805399" y="813290"/>
            <a:chExt cx="2615384" cy="4147110"/>
          </a:xfrm>
        </p:grpSpPr>
        <p:grpSp>
          <p:nvGrpSpPr>
            <p:cNvPr id="314" name="Google Shape;314;p36"/>
            <p:cNvGrpSpPr/>
            <p:nvPr/>
          </p:nvGrpSpPr>
          <p:grpSpPr>
            <a:xfrm>
              <a:off x="6805399" y="2483126"/>
              <a:ext cx="2189451" cy="2477274"/>
              <a:chOff x="6805399" y="2483126"/>
              <a:chExt cx="2189451" cy="2477274"/>
            </a:xfrm>
          </p:grpSpPr>
          <p:pic>
            <p:nvPicPr>
              <p:cNvPr id="315" name="Google Shape;315;p3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3837203" flipH="1">
                <a:off x="7062529" y="3231292"/>
                <a:ext cx="1466142" cy="148771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25000"/>
                  </a:srgbClr>
                </a:outerShdw>
              </a:effectLst>
            </p:spPr>
          </p:pic>
          <p:pic>
            <p:nvPicPr>
              <p:cNvPr id="316" name="Google Shape;316;p3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4115103" flipH="1">
                <a:off x="7216789" y="2702963"/>
                <a:ext cx="1538633" cy="156366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25000"/>
                  </a:srgbClr>
                </a:outerShdw>
              </a:effectLst>
            </p:spPr>
          </p:pic>
        </p:grpSp>
        <p:pic>
          <p:nvPicPr>
            <p:cNvPr id="317" name="Google Shape;317;p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1978976">
              <a:off x="7577626" y="1196503"/>
              <a:ext cx="1706284" cy="10080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25000"/>
                </a:srgbClr>
              </a:outerShdw>
            </a:effectLst>
          </p:spPr>
        </p:pic>
      </p:grpSp>
      <p:sp>
        <p:nvSpPr>
          <p:cNvPr id="318" name="Google Shape;318;p36"/>
          <p:cNvSpPr txBox="1">
            <a:spLocks noGrp="1"/>
          </p:cNvSpPr>
          <p:nvPr>
            <p:ph type="ctrTitle"/>
          </p:nvPr>
        </p:nvSpPr>
        <p:spPr>
          <a:xfrm>
            <a:off x="318038" y="1789650"/>
            <a:ext cx="4461798" cy="15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Pune Smart City Environmental Sensor Data Analysis (2019)</a:t>
            </a:r>
            <a:endParaRPr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9" name="Google Shape;319;p36"/>
          <p:cNvSpPr txBox="1">
            <a:spLocks noGrp="1"/>
          </p:cNvSpPr>
          <p:nvPr>
            <p:ph type="subTitle" idx="1"/>
          </p:nvPr>
        </p:nvSpPr>
        <p:spPr>
          <a:xfrm>
            <a:off x="-308919" y="3679743"/>
            <a:ext cx="6036276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300" b="1" i="1" dirty="0">
                <a:solidFill>
                  <a:schemeClr val="tx1"/>
                </a:solidFill>
                <a:latin typeface="Lexend Deca" panose="020B0604020202020204" charset="0"/>
              </a:rPr>
              <a:t>Exploratory Data Analysis using Smart City Environmental Sensor Data</a:t>
            </a:r>
            <a:endParaRPr lang="en-IN" sz="1300" b="1" i="1" dirty="0">
              <a:solidFill>
                <a:schemeClr val="tx1"/>
              </a:solidFill>
              <a:latin typeface="Lexend Deca" panose="020B0604020202020204" charset="0"/>
            </a:endParaRPr>
          </a:p>
        </p:txBody>
      </p:sp>
      <p:pic>
        <p:nvPicPr>
          <p:cNvPr id="320" name="Google Shape;320;p3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6">
            <a:alphaModFix/>
          </a:blip>
          <a:srcRect l="734" t="36207" r="24365" b="13872"/>
          <a:stretch/>
        </p:blipFill>
        <p:spPr>
          <a:xfrm>
            <a:off x="5071600" y="971025"/>
            <a:ext cx="3201600" cy="3201600"/>
          </a:xfrm>
          <a:prstGeom prst="ellipse">
            <a:avLst/>
          </a:prstGeom>
        </p:spPr>
      </p:pic>
      <p:pic>
        <p:nvPicPr>
          <p:cNvPr id="321" name="Google Shape;321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4168533">
            <a:off x="1300680" y="640616"/>
            <a:ext cx="398990" cy="6222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5783B-A22F-7EAB-EEEF-4F155313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CA1F0-8C27-6DA9-459C-532D4F1E2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800" dirty="0">
                <a:latin typeface="Kumbh Sans" panose="020B0604020202020204" charset="0"/>
                <a:cs typeface="Kumbh Sans" panose="020B0604020202020204" charset="0"/>
              </a:rPr>
              <a:t>Problem Statement</a:t>
            </a:r>
          </a:p>
          <a:p>
            <a:pPr algn="just"/>
            <a:r>
              <a:rPr lang="en-US" sz="1800" dirty="0">
                <a:latin typeface="Kumbh Sans" panose="020B0604020202020204" charset="0"/>
                <a:cs typeface="Kumbh Sans" panose="020B0604020202020204" charset="0"/>
              </a:rPr>
              <a:t>Dataset Overview</a:t>
            </a:r>
          </a:p>
          <a:p>
            <a:pPr algn="just"/>
            <a:r>
              <a:rPr lang="en-US" sz="1800" dirty="0">
                <a:latin typeface="Kumbh Sans" panose="020B0604020202020204" charset="0"/>
                <a:cs typeface="Kumbh Sans" panose="020B0604020202020204" charset="0"/>
              </a:rPr>
              <a:t>Features Classification</a:t>
            </a:r>
          </a:p>
          <a:p>
            <a:pPr algn="just"/>
            <a:r>
              <a:rPr lang="en-US" sz="1800" dirty="0">
                <a:latin typeface="Kumbh Sans" panose="020B0604020202020204" charset="0"/>
                <a:cs typeface="Kumbh Sans" panose="020B0604020202020204" charset="0"/>
              </a:rPr>
              <a:t>Univariate Analysis</a:t>
            </a:r>
          </a:p>
          <a:p>
            <a:pPr algn="just"/>
            <a:r>
              <a:rPr lang="en-US" sz="1800" dirty="0">
                <a:latin typeface="Kumbh Sans" panose="020B0604020202020204" charset="0"/>
                <a:cs typeface="Kumbh Sans" panose="020B0604020202020204" charset="0"/>
              </a:rPr>
              <a:t>Bivariate &amp; Correlation Analysis</a:t>
            </a:r>
          </a:p>
          <a:p>
            <a:pPr algn="just"/>
            <a:r>
              <a:rPr lang="en-US" sz="1800" dirty="0">
                <a:latin typeface="Kumbh Sans" panose="020B0604020202020204" charset="0"/>
                <a:cs typeface="Kumbh Sans" panose="020B0604020202020204" charset="0"/>
              </a:rPr>
              <a:t>Spatial &amp; Temporal Analysis</a:t>
            </a:r>
          </a:p>
          <a:p>
            <a:pPr algn="just"/>
            <a:r>
              <a:rPr lang="en-US" sz="1800" dirty="0">
                <a:latin typeface="Kumbh Sans" panose="020B0604020202020204" charset="0"/>
                <a:cs typeface="Kumbh Sans" panose="020B0604020202020204" charset="0"/>
              </a:rPr>
              <a:t>Key Insights &amp; Risks</a:t>
            </a:r>
          </a:p>
          <a:p>
            <a:pPr algn="just"/>
            <a:r>
              <a:rPr lang="en-US" sz="1800" dirty="0">
                <a:latin typeface="Kumbh Sans" panose="020B0604020202020204" charset="0"/>
                <a:cs typeface="Kumbh Sans" panose="020B0604020202020204" charset="0"/>
              </a:rPr>
              <a:t>Recommendations</a:t>
            </a:r>
          </a:p>
          <a:p>
            <a:pPr algn="just"/>
            <a:r>
              <a:rPr lang="en-US" sz="1800" dirty="0">
                <a:latin typeface="Kumbh Sans" panose="020B0604020202020204" charset="0"/>
                <a:cs typeface="Kumbh Sans" panose="020B0604020202020204" charset="0"/>
              </a:rPr>
              <a:t>Conclusion</a:t>
            </a:r>
          </a:p>
          <a:p>
            <a:endParaRPr lang="en-IN" sz="1800" dirty="0">
              <a:latin typeface="Kumbh Sans" panose="020B0604020202020204" charset="0"/>
              <a:cs typeface="Kumbh Sans" panose="020B0604020202020204" charset="0"/>
            </a:endParaRPr>
          </a:p>
        </p:txBody>
      </p:sp>
      <p:pic>
        <p:nvPicPr>
          <p:cNvPr id="4" name="Google Shape;865;p61">
            <a:extLst>
              <a:ext uri="{FF2B5EF4-FFF2-40B4-BE49-F238E27FC236}">
                <a16:creationId xmlns:a16="http://schemas.microsoft.com/office/drawing/2014/main" id="{39AB3CF4-15EF-B745-CDC8-FB330EFD8D6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4168533">
            <a:off x="4935805" y="701091"/>
            <a:ext cx="398990" cy="6222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5" name="Google Shape;408;p43">
            <a:extLst>
              <a:ext uri="{FF2B5EF4-FFF2-40B4-BE49-F238E27FC236}">
                <a16:creationId xmlns:a16="http://schemas.microsoft.com/office/drawing/2014/main" id="{54BC2708-180B-D619-DE65-01BC3D7F7D3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89">
            <a:off x="7794415" y="1314009"/>
            <a:ext cx="491922" cy="76723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4000"/>
              </a:srgbClr>
            </a:outerShdw>
          </a:effectLst>
        </p:spPr>
      </p:pic>
      <p:pic>
        <p:nvPicPr>
          <p:cNvPr id="6" name="Google Shape;395;p42">
            <a:extLst>
              <a:ext uri="{FF2B5EF4-FFF2-40B4-BE49-F238E27FC236}">
                <a16:creationId xmlns:a16="http://schemas.microsoft.com/office/drawing/2014/main" id="{3310EBCF-0EC5-DC7A-6062-D05190E620F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5817978" flipH="1">
            <a:off x="4554690" y="3988109"/>
            <a:ext cx="491922" cy="76723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8061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3F057-D92E-4031-1A0A-124349578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76DCB-C179-8147-BC40-DDC6220FF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408375"/>
            <a:ext cx="7704000" cy="3290100"/>
          </a:xfrm>
        </p:spPr>
        <p:txBody>
          <a:bodyPr/>
          <a:lstStyle/>
          <a:p>
            <a:pPr algn="just"/>
            <a:r>
              <a:rPr lang="en-US" sz="1600" dirty="0">
                <a:latin typeface="Kumbh Sans" panose="020B0604020202020204" charset="0"/>
                <a:cs typeface="Kumbh Sans" panose="020B0604020202020204" charset="0"/>
              </a:rPr>
              <a:t>Pune faces increasing air pollution due to:</a:t>
            </a:r>
          </a:p>
          <a:p>
            <a:pPr algn="just"/>
            <a:endParaRPr lang="en-US" sz="800" dirty="0">
              <a:latin typeface="Kumbh Sans" panose="020B0604020202020204" charset="0"/>
              <a:cs typeface="Kumbh Sans" panose="020B0604020202020204" charset="0"/>
            </a:endParaRPr>
          </a:p>
          <a:p>
            <a:pPr lvl="1" algn="just"/>
            <a:r>
              <a:rPr lang="en-US" sz="1600" dirty="0">
                <a:latin typeface="Kumbh Sans" panose="020B0604020202020204" charset="0"/>
                <a:cs typeface="Kumbh Sans" panose="020B0604020202020204" charset="0"/>
              </a:rPr>
              <a:t>Rapid urbanization </a:t>
            </a:r>
          </a:p>
          <a:p>
            <a:pPr lvl="1" algn="just"/>
            <a:r>
              <a:rPr lang="en-US" sz="1600" dirty="0">
                <a:latin typeface="Kumbh Sans" panose="020B0604020202020204" charset="0"/>
                <a:cs typeface="Kumbh Sans" panose="020B0604020202020204" charset="0"/>
              </a:rPr>
              <a:t>Traffic congestion </a:t>
            </a:r>
          </a:p>
          <a:p>
            <a:pPr lvl="1" algn="just"/>
            <a:r>
              <a:rPr lang="en-US" sz="1600" dirty="0">
                <a:latin typeface="Kumbh Sans" panose="020B0604020202020204" charset="0"/>
                <a:cs typeface="Kumbh Sans" panose="020B0604020202020204" charset="0"/>
              </a:rPr>
              <a:t>Industrial &amp; commercial activity</a:t>
            </a:r>
          </a:p>
          <a:p>
            <a:pPr lvl="1" algn="just"/>
            <a:endParaRPr lang="en-US" sz="1600" dirty="0">
              <a:latin typeface="Kumbh Sans" panose="020B0604020202020204" charset="0"/>
              <a:cs typeface="Kumbh Sans" panose="020B0604020202020204" charset="0"/>
            </a:endParaRPr>
          </a:p>
          <a:p>
            <a:pPr algn="just"/>
            <a:r>
              <a:rPr lang="en-US" sz="1600" dirty="0">
                <a:latin typeface="Kumbh Sans" panose="020B0604020202020204" charset="0"/>
                <a:cs typeface="Kumbh Sans" panose="020B0604020202020204" charset="0"/>
              </a:rPr>
              <a:t>City authorities need data-driven insights to:</a:t>
            </a:r>
          </a:p>
          <a:p>
            <a:pPr algn="just"/>
            <a:endParaRPr lang="en-US" sz="800" dirty="0">
              <a:latin typeface="Kumbh Sans" panose="020B0604020202020204" charset="0"/>
              <a:cs typeface="Kumbh Sans" panose="020B0604020202020204" charset="0"/>
            </a:endParaRPr>
          </a:p>
          <a:p>
            <a:pPr lvl="1" algn="just"/>
            <a:r>
              <a:rPr lang="en-US" sz="1600" dirty="0">
                <a:latin typeface="Kumbh Sans" panose="020B0604020202020204" charset="0"/>
                <a:cs typeface="Kumbh Sans" panose="020B0604020202020204" charset="0"/>
              </a:rPr>
              <a:t>Identify pollution hotspots </a:t>
            </a:r>
          </a:p>
          <a:p>
            <a:pPr lvl="1" algn="just"/>
            <a:r>
              <a:rPr lang="en-US" sz="1600" dirty="0">
                <a:latin typeface="Kumbh Sans" panose="020B0604020202020204" charset="0"/>
                <a:cs typeface="Kumbh Sans" panose="020B0604020202020204" charset="0"/>
              </a:rPr>
              <a:t>Understand pollution behavior over time </a:t>
            </a:r>
          </a:p>
          <a:p>
            <a:pPr lvl="1" algn="just"/>
            <a:r>
              <a:rPr lang="en-US" sz="1600" dirty="0">
                <a:latin typeface="Kumbh Sans" panose="020B0604020202020204" charset="0"/>
                <a:cs typeface="Kumbh Sans" panose="020B0604020202020204" charset="0"/>
              </a:rPr>
              <a:t>Take targeted corrective action</a:t>
            </a:r>
          </a:p>
          <a:p>
            <a:endParaRPr lang="en-IN" dirty="0">
              <a:latin typeface="Kumbh Sans" panose="020B0604020202020204" charset="0"/>
              <a:cs typeface="Kumbh Sans" panose="020B0604020202020204" charset="0"/>
            </a:endParaRPr>
          </a:p>
        </p:txBody>
      </p:sp>
      <p:pic>
        <p:nvPicPr>
          <p:cNvPr id="4" name="Google Shape;865;p61">
            <a:extLst>
              <a:ext uri="{FF2B5EF4-FFF2-40B4-BE49-F238E27FC236}">
                <a16:creationId xmlns:a16="http://schemas.microsoft.com/office/drawing/2014/main" id="{C460DAF9-8951-A56A-12A5-6E45941E773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4168533">
            <a:off x="4935805" y="701091"/>
            <a:ext cx="398990" cy="6222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6" name="Google Shape;408;p43">
            <a:extLst>
              <a:ext uri="{FF2B5EF4-FFF2-40B4-BE49-F238E27FC236}">
                <a16:creationId xmlns:a16="http://schemas.microsoft.com/office/drawing/2014/main" id="{8B6176BB-2781-8A69-E32E-2ACD5CBF0B2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89">
            <a:off x="7794415" y="1314009"/>
            <a:ext cx="491922" cy="76723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4000"/>
              </a:srgbClr>
            </a:outerShdw>
          </a:effectLst>
        </p:spPr>
      </p:pic>
      <p:pic>
        <p:nvPicPr>
          <p:cNvPr id="7" name="Google Shape;395;p42">
            <a:extLst>
              <a:ext uri="{FF2B5EF4-FFF2-40B4-BE49-F238E27FC236}">
                <a16:creationId xmlns:a16="http://schemas.microsoft.com/office/drawing/2014/main" id="{05EAC6B7-4AAF-34F8-76CE-275CB2A55C9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5817978" flipH="1">
            <a:off x="4554690" y="3988109"/>
            <a:ext cx="491922" cy="76723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8120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4BDE-C8FE-8394-6DE5-A0F68315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5279"/>
            <a:ext cx="7704000" cy="572700"/>
          </a:xfrm>
        </p:spPr>
        <p:txBody>
          <a:bodyPr/>
          <a:lstStyle/>
          <a:p>
            <a:pPr algn="just"/>
            <a:r>
              <a:rPr lang="en-IN" dirty="0"/>
              <a:t>Dataset Overview and Feature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D6F9A-2603-72F0-470C-A74987726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7032" y="1787325"/>
            <a:ext cx="4127156" cy="2267700"/>
          </a:xfrm>
        </p:spPr>
        <p:txBody>
          <a:bodyPr/>
          <a:lstStyle/>
          <a:p>
            <a:pPr algn="just"/>
            <a:r>
              <a:rPr lang="en-US" b="1" dirty="0">
                <a:latin typeface="Kumbh Sans" panose="020B0604020202020204" charset="0"/>
                <a:cs typeface="Kumbh Sans" panose="020B0604020202020204" charset="0"/>
              </a:rPr>
              <a:t>Location Data:</a:t>
            </a:r>
            <a:r>
              <a:rPr lang="en-US" dirty="0">
                <a:latin typeface="Kumbh Sans" panose="020B0604020202020204" charset="0"/>
                <a:cs typeface="Kumbh Sans" panose="020B0604020202020204" charset="0"/>
              </a:rPr>
              <a:t> Name, Latitude, Longitude</a:t>
            </a:r>
          </a:p>
          <a:p>
            <a:pPr algn="just"/>
            <a:endParaRPr lang="en-US" dirty="0">
              <a:latin typeface="Kumbh Sans" panose="020B0604020202020204" charset="0"/>
              <a:cs typeface="Kumbh Sans" panose="020B0604020202020204" charset="0"/>
            </a:endParaRPr>
          </a:p>
          <a:p>
            <a:pPr algn="just"/>
            <a:r>
              <a:rPr lang="en-US" b="1" dirty="0">
                <a:latin typeface="Kumbh Sans" panose="020B0604020202020204" charset="0"/>
                <a:cs typeface="Kumbh Sans" panose="020B0604020202020204" charset="0"/>
              </a:rPr>
              <a:t>Air Pollutants:</a:t>
            </a:r>
            <a:r>
              <a:rPr lang="en-US" dirty="0">
                <a:latin typeface="Kumbh Sans" panose="020B0604020202020204" charset="0"/>
                <a:cs typeface="Kumbh Sans" panose="020B0604020202020204" charset="0"/>
              </a:rPr>
              <a:t> PM2.5, PM10, NO₂, CO, SO₂, Ozone</a:t>
            </a:r>
          </a:p>
          <a:p>
            <a:pPr algn="just"/>
            <a:endParaRPr lang="en-US" dirty="0">
              <a:latin typeface="Kumbh Sans" panose="020B0604020202020204" charset="0"/>
              <a:cs typeface="Kumbh Sans" panose="020B0604020202020204" charset="0"/>
            </a:endParaRPr>
          </a:p>
          <a:p>
            <a:pPr algn="just"/>
            <a:r>
              <a:rPr lang="en-US" b="1" dirty="0">
                <a:latin typeface="Kumbh Sans" panose="020B0604020202020204" charset="0"/>
                <a:cs typeface="Kumbh Sans" panose="020B0604020202020204" charset="0"/>
              </a:rPr>
              <a:t>Environmental Parameters:</a:t>
            </a:r>
            <a:r>
              <a:rPr lang="en-US" dirty="0">
                <a:latin typeface="Kumbh Sans" panose="020B0604020202020204" charset="0"/>
                <a:cs typeface="Kumbh Sans" panose="020B0604020202020204" charset="0"/>
              </a:rPr>
              <a:t> Temperature, Humidity, Sound, Light, Air Pressure</a:t>
            </a:r>
          </a:p>
          <a:p>
            <a:pPr algn="just"/>
            <a:endParaRPr lang="en-US" dirty="0">
              <a:latin typeface="Kumbh Sans" panose="020B0604020202020204" charset="0"/>
              <a:cs typeface="Kumbh Sans" panose="020B0604020202020204" charset="0"/>
            </a:endParaRPr>
          </a:p>
          <a:p>
            <a:pPr algn="just"/>
            <a:r>
              <a:rPr lang="en-US" b="1" dirty="0">
                <a:latin typeface="Kumbh Sans" panose="020B0604020202020204" charset="0"/>
                <a:cs typeface="Kumbh Sans" panose="020B0604020202020204" charset="0"/>
              </a:rPr>
              <a:t>Time Feature:</a:t>
            </a:r>
            <a:r>
              <a:rPr lang="en-US" dirty="0">
                <a:latin typeface="Kumbh Sans" panose="020B0604020202020204" charset="0"/>
                <a:cs typeface="Kumbh Sans" panose="020B0604020202020204" charset="0"/>
              </a:rPr>
              <a:t> Timestamp, Hour, Day, Weekday</a:t>
            </a:r>
          </a:p>
          <a:p>
            <a:endParaRPr lang="en-IN" dirty="0">
              <a:latin typeface="Kumbh Sans" panose="020B0604020202020204" charset="0"/>
              <a:cs typeface="Kumbh Sans" panose="020B060402020202020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32C6BF4-3E72-2CC6-8CFE-BCAEDFDBAD0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39812" y="1787325"/>
            <a:ext cx="4006995" cy="2267700"/>
          </a:xfrm>
        </p:spPr>
        <p:txBody>
          <a:bodyPr/>
          <a:lstStyle/>
          <a:p>
            <a:pPr marL="139700" indent="0" algn="just"/>
            <a:r>
              <a:rPr lang="en-US" b="1" dirty="0">
                <a:latin typeface="Kumbh Sans" panose="020B0604020202020204" charset="0"/>
                <a:cs typeface="Kumbh Sans" panose="020B0604020202020204" charset="0"/>
              </a:rPr>
              <a:t>Dataset:</a:t>
            </a:r>
            <a:r>
              <a:rPr lang="en-US" dirty="0">
                <a:latin typeface="Kumbh Sans" panose="020B0604020202020204" charset="0"/>
                <a:cs typeface="Kumbh Sans" panose="020B0604020202020204" charset="0"/>
              </a:rPr>
              <a:t> Pune Smart City Environmental Sensor Dataset (2019)</a:t>
            </a:r>
          </a:p>
          <a:p>
            <a:pPr marL="139700" indent="0" algn="just"/>
            <a:endParaRPr lang="en-US" dirty="0">
              <a:latin typeface="Kumbh Sans" panose="020B0604020202020204" charset="0"/>
              <a:cs typeface="Kumbh Sans" panose="020B0604020202020204" charset="0"/>
            </a:endParaRPr>
          </a:p>
          <a:p>
            <a:pPr marL="139700" indent="0" algn="just"/>
            <a:r>
              <a:rPr lang="en-US" b="1" dirty="0">
                <a:latin typeface="Kumbh Sans" panose="020B0604020202020204" charset="0"/>
                <a:cs typeface="Kumbh Sans" panose="020B0604020202020204" charset="0"/>
              </a:rPr>
              <a:t>Records:</a:t>
            </a:r>
            <a:r>
              <a:rPr lang="en-US" dirty="0">
                <a:latin typeface="Kumbh Sans" panose="020B0604020202020204" charset="0"/>
                <a:cs typeface="Kumbh Sans" panose="020B0604020202020204" charset="0"/>
              </a:rPr>
              <a:t> 103,205</a:t>
            </a:r>
          </a:p>
          <a:p>
            <a:pPr marL="139700" indent="0" algn="just"/>
            <a:endParaRPr lang="en-US" dirty="0">
              <a:latin typeface="Kumbh Sans" panose="020B0604020202020204" charset="0"/>
              <a:cs typeface="Kumbh Sans" panose="020B0604020202020204" charset="0"/>
            </a:endParaRPr>
          </a:p>
          <a:p>
            <a:pPr marL="139700" indent="0" algn="just"/>
            <a:r>
              <a:rPr lang="en-US" b="1" dirty="0">
                <a:latin typeface="Kumbh Sans" panose="020B0604020202020204" charset="0"/>
                <a:cs typeface="Kumbh Sans" panose="020B0604020202020204" charset="0"/>
              </a:rPr>
              <a:t>Features:</a:t>
            </a:r>
            <a:r>
              <a:rPr lang="en-US" dirty="0">
                <a:latin typeface="Kumbh Sans" panose="020B0604020202020204" charset="0"/>
                <a:cs typeface="Kumbh Sans" panose="020B0604020202020204" charset="0"/>
              </a:rPr>
              <a:t> 28</a:t>
            </a:r>
          </a:p>
          <a:p>
            <a:pPr marL="139700" indent="0" algn="just"/>
            <a:endParaRPr lang="en-US" dirty="0">
              <a:latin typeface="Kumbh Sans" panose="020B0604020202020204" charset="0"/>
              <a:cs typeface="Kumbh Sans" panose="020B0604020202020204" charset="0"/>
            </a:endParaRPr>
          </a:p>
          <a:p>
            <a:pPr marL="139700" indent="0" algn="just"/>
            <a:r>
              <a:rPr lang="en-US" b="1" dirty="0">
                <a:latin typeface="Kumbh Sans" panose="020B0604020202020204" charset="0"/>
                <a:cs typeface="Kumbh Sans" panose="020B0604020202020204" charset="0"/>
              </a:rPr>
              <a:t>Data Type:</a:t>
            </a:r>
            <a:r>
              <a:rPr lang="en-US" dirty="0">
                <a:latin typeface="Kumbh Sans" panose="020B0604020202020204" charset="0"/>
                <a:cs typeface="Kumbh Sans" panose="020B0604020202020204" charset="0"/>
              </a:rPr>
              <a:t> Time-series + Location-based sensor data</a:t>
            </a:r>
          </a:p>
          <a:p>
            <a:pPr marL="139700" indent="0" algn="just"/>
            <a:endParaRPr lang="en-US" dirty="0">
              <a:latin typeface="Kumbh Sans" panose="020B0604020202020204" charset="0"/>
              <a:cs typeface="Kumbh Sans" panose="020B0604020202020204" charset="0"/>
            </a:endParaRPr>
          </a:p>
          <a:p>
            <a:pPr marL="139700" indent="0" algn="just"/>
            <a:r>
              <a:rPr lang="en-US" b="1" dirty="0">
                <a:latin typeface="Kumbh Sans" panose="020B0604020202020204" charset="0"/>
                <a:cs typeface="Kumbh Sans" panose="020B0604020202020204" charset="0"/>
              </a:rPr>
              <a:t>Source:</a:t>
            </a:r>
            <a:r>
              <a:rPr lang="en-US" dirty="0">
                <a:latin typeface="Kumbh Sans" panose="020B0604020202020204" charset="0"/>
                <a:cs typeface="Kumbh Sans" panose="020B0604020202020204" charset="0"/>
              </a:rPr>
              <a:t> PSCDCL &amp; IISc Bangalore</a:t>
            </a:r>
          </a:p>
          <a:p>
            <a:pPr marL="139700" indent="0" algn="just"/>
            <a:endParaRPr lang="en-US" dirty="0">
              <a:latin typeface="Kumbh Sans" panose="020B0604020202020204" charset="0"/>
              <a:cs typeface="Kumbh Sans" panose="020B0604020202020204" charset="0"/>
            </a:endParaRPr>
          </a:p>
          <a:p>
            <a:pPr marL="139700" indent="0"/>
            <a:endParaRPr lang="en-IN" dirty="0">
              <a:latin typeface="Kumbh Sans" panose="020B0604020202020204" charset="0"/>
              <a:cs typeface="Kumbh Sans" panose="020B0604020202020204" charset="0"/>
            </a:endParaRPr>
          </a:p>
        </p:txBody>
      </p:sp>
      <p:pic>
        <p:nvPicPr>
          <p:cNvPr id="5" name="Google Shape;865;p61">
            <a:extLst>
              <a:ext uri="{FF2B5EF4-FFF2-40B4-BE49-F238E27FC236}">
                <a16:creationId xmlns:a16="http://schemas.microsoft.com/office/drawing/2014/main" id="{06671BC1-9061-EAAC-EB81-C06EB79EAA3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4168533">
            <a:off x="4935805" y="701091"/>
            <a:ext cx="398990" cy="6222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803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EA1D-C43E-9977-37C9-773C62DD4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687E-36A0-3010-65E6-31ABA70C6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Preprocessing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9462D-FEE2-0B61-AFFF-8B30E48F3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376" y="1396934"/>
            <a:ext cx="3899090" cy="3610306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Kumbh Sans" panose="020B0604020202020204" charset="0"/>
                <a:cs typeface="Kumbh Sans" panose="020B0604020202020204" charset="0"/>
              </a:rPr>
              <a:t>Handled Missing Values.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600" dirty="0">
              <a:latin typeface="Kumbh Sans" panose="020B0604020202020204" charset="0"/>
              <a:cs typeface="Kumbh Sans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umbh Sans" panose="020B0604020202020204" charset="0"/>
                <a:cs typeface="Kumbh Sans" panose="020B0604020202020204" charset="0"/>
              </a:rPr>
              <a:t>Removed zero &amp; unrealistic sensor readings.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1600" dirty="0">
              <a:latin typeface="Kumbh Sans" panose="020B0604020202020204" charset="0"/>
              <a:cs typeface="Kumbh Sans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umbh Sans" panose="020B0604020202020204" charset="0"/>
                <a:cs typeface="Kumbh Sans" panose="020B0604020202020204" charset="0"/>
              </a:rPr>
              <a:t>Treated outliers using IQR method.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1600" dirty="0">
              <a:latin typeface="Kumbh Sans" panose="020B0604020202020204" charset="0"/>
              <a:cs typeface="Kumbh Sans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Kumbh Sans" panose="020B0604020202020204" charset="0"/>
                <a:cs typeface="Kumbh Sans" panose="020B0604020202020204" charset="0"/>
              </a:rPr>
              <a:t>Converted timestamp into meaningful time features.</a:t>
            </a:r>
          </a:p>
        </p:txBody>
      </p:sp>
      <p:pic>
        <p:nvPicPr>
          <p:cNvPr id="7" name="Google Shape;408;p43">
            <a:extLst>
              <a:ext uri="{FF2B5EF4-FFF2-40B4-BE49-F238E27FC236}">
                <a16:creationId xmlns:a16="http://schemas.microsoft.com/office/drawing/2014/main" id="{17805F26-28B8-B513-C2D0-79CA22D59EA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89">
            <a:off x="7794415" y="1314009"/>
            <a:ext cx="491922" cy="76723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4000"/>
              </a:srgbClr>
            </a:outerShdw>
          </a:effectLst>
        </p:spPr>
      </p:pic>
      <p:pic>
        <p:nvPicPr>
          <p:cNvPr id="8" name="Google Shape;395;p42">
            <a:extLst>
              <a:ext uri="{FF2B5EF4-FFF2-40B4-BE49-F238E27FC236}">
                <a16:creationId xmlns:a16="http://schemas.microsoft.com/office/drawing/2014/main" id="{4DDBE195-A1B7-2F97-DE83-53D238A95CB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5817978" flipH="1">
            <a:off x="4554690" y="3988109"/>
            <a:ext cx="491922" cy="76723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463EA7-CA99-EE65-68ED-05C5EB738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741" y="1358601"/>
            <a:ext cx="4507606" cy="287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56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3954-10BE-8B08-AC42-CA444F89D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 Assessment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C16BCA-5412-F1F9-2417-10C065D79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3951" y="1540698"/>
            <a:ext cx="340428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umbh Sans" panose="020B0604020202020204" charset="0"/>
                <a:cs typeface="Kumbh Sans" panose="020B0604020202020204" charset="0"/>
              </a:rPr>
              <a:t>Some pollutant sensors showed higher missing values.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umbh Sans" panose="020B0604020202020204" charset="0"/>
                <a:cs typeface="Kumbh Sans" panose="020B0604020202020204" charset="0"/>
              </a:rPr>
              <a:t>PM2.5 &amp; PM10 had the most quality issues.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umbh Sans" panose="020B0604020202020204" charset="0"/>
                <a:cs typeface="Kumbh Sans" panose="020B0604020202020204" charset="0"/>
              </a:rPr>
              <a:t>Environmental parameters were relatively stable.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C23095-8B9F-4F02-D0FD-63E3F468E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150" y="1161535"/>
            <a:ext cx="4572000" cy="302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4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BA11-9941-2493-8371-6249351C2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468D0-F464-6FC6-356F-6B0334B2F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LOCATIONS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43D589-1062-4D1C-284C-C0E215642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36112"/>
            <a:ext cx="340428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Multiple monitoring locations across Pune.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umbh Sans" panose="020B0604020202020204" charset="0"/>
                <a:cs typeface="Kumbh Sans" panose="020B0604020202020204" charset="0"/>
              </a:rPr>
              <a:t>Few locations contributed most readings.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Uneven sensor coverage observed.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DCB24-8316-FDC1-6EB1-EDD95739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773" y="1166006"/>
            <a:ext cx="4269176" cy="383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52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697C-FC14-BFC7-6EDB-C4F4226D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358DF-B464-6D53-AE6A-1B933870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OF KEY AIR POLLUTANTS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B8183B-62DA-8F69-EAA2-2BC74EE7B5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6310" y="2059222"/>
            <a:ext cx="340428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umbh Sans" panose="020B0604020202020204" charset="0"/>
                <a:cs typeface="Kumbh Sans" panose="020B0604020202020204" charset="0"/>
              </a:rPr>
              <a:t>PM2.5 and PM10 show right-skewed distribution.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umbh Sans" panose="020B0604020202020204" charset="0"/>
                <a:cs typeface="Kumbh Sans" panose="020B0604020202020204" charset="0"/>
              </a:rPr>
              <a:t>Frequent high pollution episodes.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>
              <a:solidFill>
                <a:schemeClr val="tx1"/>
              </a:solidFill>
              <a:latin typeface="Kumbh Sans" panose="020B0604020202020204" charset="0"/>
              <a:cs typeface="Kumbh Sans" panose="020B060402020202020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umbh Sans" panose="020B0604020202020204" charset="0"/>
                <a:cs typeface="Kumbh Sans" panose="020B0604020202020204" charset="0"/>
              </a:rPr>
              <a:t>Presence of </a:t>
            </a: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extreme values.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2A2446-25D8-81BE-EDC6-8180EB812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110" y="1112608"/>
            <a:ext cx="2488582" cy="1795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593EB6-7F5C-817D-5DB7-556DEE329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205" y="1112608"/>
            <a:ext cx="2488582" cy="1795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5E42F9-EA2D-1A83-A085-F23B4BDED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110" y="3029094"/>
            <a:ext cx="2488582" cy="17953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B92E8F-CC31-54A6-327E-77C766112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4205" y="3029094"/>
            <a:ext cx="2488582" cy="179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89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9E81-2F3F-3F4E-185E-212F571EA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08FC-14E0-CA06-E7FC-E4AFCCE2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ENVIRONMENTAL FACTORS DISTRIBUTION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44738A-1C75-4556-B199-27D6BA8A8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6310" y="2305443"/>
            <a:ext cx="340428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Temperature and Humidity shows normal trends.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Sound and light indicate urban activity patterns.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6FCD95-3DAC-3B37-8AD1-5B1FB6542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110" y="1112608"/>
            <a:ext cx="2488582" cy="19164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886251-9710-EEE9-EF6B-6EF7E2517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204" y="1112608"/>
            <a:ext cx="2488582" cy="19164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B59AA5-A80F-4DB1-FB0B-8D3EDE360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110" y="3123977"/>
            <a:ext cx="2488582" cy="19164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B665B3-B4B0-3CA2-8FE9-3CC611EFD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4204" y="3123977"/>
            <a:ext cx="2488582" cy="191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51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E235D-B518-D0E1-D573-DACB5C309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EA3A-86ED-B1E2-1B47-5090EF1A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VARIABILITY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6F5C1E-3745-FE23-22E3-6F2B0EF267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6310" y="2305443"/>
            <a:ext cx="340428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PM2.5 and PM10 show highest variability.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umbh Sans" panose="020B0604020202020204" charset="0"/>
                <a:cs typeface="Kumbh Sans" panose="020B0604020202020204" charset="0"/>
              </a:rPr>
              <a:t>In</a:t>
            </a: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dicates uneven pollution exposure across Pune.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112FD2-B51B-BC60-73D2-ECC424CBF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425" y="1441455"/>
            <a:ext cx="4713668" cy="287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62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D203A-1FCC-3711-B768-D26D9EB4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B1F7-5E5B-7F1C-6EE2-B7139BEF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CE9833-735D-4FC2-74B0-4E57557A66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6310" y="1813002"/>
            <a:ext cx="340428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Strong correlation between PM2.5 and PM10.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CO and </a:t>
            </a:r>
            <a:r>
              <a:rPr lang="en-IN" sz="1600" dirty="0">
                <a:latin typeface="Kumbh Sans" panose="020B0604020202020204" charset="0"/>
                <a:cs typeface="Kumbh Sans" panose="020B0604020202020204" charset="0"/>
              </a:rPr>
              <a:t>NO₂ correlated – Traffic impact.</a:t>
            </a:r>
            <a:endParaRPr lang="en-US" altLang="en-US" sz="1600" dirty="0">
              <a:solidFill>
                <a:schemeClr val="tx1"/>
              </a:solidFill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Environmental factors moderately influence pollutants.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umbh Sans" panose="020B0604020202020204" charset="0"/>
              <a:cs typeface="Kumbh Sans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251A3-97AF-9DB3-B814-A8230D0FB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24210"/>
            <a:ext cx="3992451" cy="337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08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88D73-0BDC-D121-4492-E7080E1A1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AA234-63CB-EAC9-B74B-669F9070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AQI PRIORITY PARAMETERS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06533D-7565-471A-ED79-1CEC45AFAE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6310" y="2059222"/>
            <a:ext cx="340428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Top 5 parameters to monitor: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Kumbh Sans" panose="020B0604020202020204" charset="0"/>
              <a:cs typeface="Kumbh Sans" panose="020B0604020202020204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PM2.5 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PM10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IN" sz="1600" dirty="0">
                <a:latin typeface="Kumbh Sans" panose="020B0604020202020204" charset="0"/>
                <a:cs typeface="Kumbh Sans" panose="020B0604020202020204" charset="0"/>
              </a:rPr>
              <a:t>NO₂ 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CO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Ozone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FBFDF2-A8AB-5CE7-92C5-B7415BAA2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164" y="1309009"/>
            <a:ext cx="4430332" cy="331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029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0F78F-9301-E91C-2ABE-B98A5784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738C5-778C-E9FA-86AE-43879CA4B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SPATIAL ANALYSIS – POLLUTION HOTSPOTS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5673FF-B0D5-0115-9406-CE0CA8FC1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6310" y="2305443"/>
            <a:ext cx="340428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Clear pollution hotspots identified.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Transport hubs and dense areas most affected.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ACDEE-182B-0FD0-9BDF-8434AD91C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05599"/>
            <a:ext cx="4250028" cy="312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03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414DE-B50D-7C40-EE55-A099D524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264E-AA39-A362-778D-D2BD8F3A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TEMPORAL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ACD582-7209-36F5-94A7-BD1C73BFA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1912" y="1936112"/>
            <a:ext cx="340428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Pollution peaks during morning  and evening hours.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Weekdays shows higher pollution than weekends.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Strong link with human activity.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6C8C95-A467-23FA-7702-74BE29AA5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395" y="559616"/>
            <a:ext cx="3200399" cy="21427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1FD382-CDCC-138D-F696-33BD6C4D4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503" y="2766101"/>
            <a:ext cx="3161503" cy="23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55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8BEA7-DE9F-2A59-826B-D9BF7DC28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7A0EA-4772-7BE9-E431-D1ADF0C1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MOST POLLUTED LOCATIONS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35F24A-ADD6-8E59-2327-8409957CC2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6307" y="1491126"/>
            <a:ext cx="462142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Ranked top 5 polluted locations.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PM2.5 and PM10 exceed safe limits most frequently.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C4958-B9E9-2793-C63C-2DF5FC71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408" y="1280615"/>
            <a:ext cx="3444180" cy="29255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29D71F-DD76-EE73-0D5C-8CD0BE08A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902" y="2743384"/>
            <a:ext cx="3665082" cy="237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58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D9487-669D-1DEC-9F93-3C8E128F8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00CD-8D00-CA4A-4984-31F62A5D5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STABILITY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ACABF0-6B0F-4F5F-7BC5-7579DAC773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6307" y="2084708"/>
            <a:ext cx="340428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Some location shows stable pollution.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Others show high fluctuation – risk zones.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AD1A91-10F5-3E83-17A1-FE2BFE922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897" y="1176702"/>
            <a:ext cx="4528750" cy="367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03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2551E-64B1-D999-0DAC-CA8FD8FE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CC1F-C3C8-85D0-5F9C-F638B7D35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CLUSTERING LOCATIONS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CD5651-5BF1-B124-C608-AA1C86AB97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6307" y="1841122"/>
            <a:ext cx="3676136" cy="1646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Locations clustered into :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500" dirty="0">
              <a:solidFill>
                <a:schemeClr val="tx1"/>
              </a:solidFill>
              <a:latin typeface="Kumbh Sans" panose="020B0604020202020204" charset="0"/>
              <a:cs typeface="Kumbh Sans" panose="020B0604020202020204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High pollution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Moderate pollution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Low pollution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Kumbh Sans" panose="020B0604020202020204" charset="0"/>
              <a:cs typeface="Kumbh Sans" panose="020B060402020202020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Kumbh Sans" panose="020B0604020202020204" charset="0"/>
                <a:cs typeface="Kumbh Sans" panose="020B0604020202020204" charset="0"/>
              </a:rPr>
              <a:t>Helps in targeted interventions.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308A4D-92CB-D7F6-A00F-0A1899252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118" y="1314001"/>
            <a:ext cx="4404575" cy="300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709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4A519-466D-8628-B15A-43CB4866F451}"/>
              </a:ext>
            </a:extLst>
          </p:cNvPr>
          <p:cNvSpPr txBox="1">
            <a:spLocks/>
          </p:cNvSpPr>
          <p:nvPr/>
        </p:nvSpPr>
        <p:spPr>
          <a:xfrm>
            <a:off x="720000" y="1999050"/>
            <a:ext cx="7704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6600" b="1" dirty="0">
                <a:latin typeface="Kumbh Sans" panose="020B0604020202020204" charset="0"/>
                <a:cs typeface="Kumbh Sans" panose="020B0604020202020204" charset="0"/>
              </a:rPr>
              <a:t>Thank You ! </a:t>
            </a:r>
          </a:p>
        </p:txBody>
      </p:sp>
      <p:pic>
        <p:nvPicPr>
          <p:cNvPr id="3" name="Google Shape;865;p61">
            <a:extLst>
              <a:ext uri="{FF2B5EF4-FFF2-40B4-BE49-F238E27FC236}">
                <a16:creationId xmlns:a16="http://schemas.microsoft.com/office/drawing/2014/main" id="{16A50230-15DC-7D8E-B5C5-1544C30002A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4168533">
            <a:off x="4935805" y="701091"/>
            <a:ext cx="398990" cy="6222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4" name="Google Shape;408;p43">
            <a:extLst>
              <a:ext uri="{FF2B5EF4-FFF2-40B4-BE49-F238E27FC236}">
                <a16:creationId xmlns:a16="http://schemas.microsoft.com/office/drawing/2014/main" id="{5B73E904-00F5-2420-67F2-8FB20EFB258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89">
            <a:off x="7794415" y="1314009"/>
            <a:ext cx="491922" cy="76723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4000"/>
              </a:srgbClr>
            </a:outerShdw>
          </a:effectLst>
        </p:spPr>
      </p:pic>
      <p:pic>
        <p:nvPicPr>
          <p:cNvPr id="5" name="Google Shape;395;p42">
            <a:extLst>
              <a:ext uri="{FF2B5EF4-FFF2-40B4-BE49-F238E27FC236}">
                <a16:creationId xmlns:a16="http://schemas.microsoft.com/office/drawing/2014/main" id="{135068B5-E3CD-1B01-DC69-23C9689C016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5817978" flipH="1">
            <a:off x="4554690" y="3988109"/>
            <a:ext cx="491922" cy="76723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6" name="Google Shape;321;p36">
            <a:extLst>
              <a:ext uri="{FF2B5EF4-FFF2-40B4-BE49-F238E27FC236}">
                <a16:creationId xmlns:a16="http://schemas.microsoft.com/office/drawing/2014/main" id="{392C415B-2579-AB9F-EC6F-70557C316A3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4168533">
            <a:off x="1300680" y="640616"/>
            <a:ext cx="398990" cy="6222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3714652"/>
      </p:ext>
    </p:extLst>
  </p:cSld>
  <p:clrMapOvr>
    <a:masterClrMapping/>
  </p:clrMapOvr>
</p:sld>
</file>

<file path=ppt/theme/theme1.xml><?xml version="1.0" encoding="utf-8"?>
<a:theme xmlns:a="http://schemas.openxmlformats.org/drawingml/2006/main" name="Air Quality Index (AQI) by Slidesgo">
  <a:themeElements>
    <a:clrScheme name="Simple Light">
      <a:dk1>
        <a:srgbClr val="333333"/>
      </a:dk1>
      <a:lt1>
        <a:srgbClr val="FFFFFF"/>
      </a:lt1>
      <a:dk2>
        <a:srgbClr val="D1E4F6"/>
      </a:dk2>
      <a:lt2>
        <a:srgbClr val="8CC4FF"/>
      </a:lt2>
      <a:accent1>
        <a:srgbClr val="4F88FA"/>
      </a:accent1>
      <a:accent2>
        <a:srgbClr val="8DBE3B"/>
      </a:accent2>
      <a:accent3>
        <a:srgbClr val="668F39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426</Words>
  <Application>Microsoft Office PowerPoint</Application>
  <PresentationFormat>On-screen Show (16:9)</PresentationFormat>
  <Paragraphs>116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Nunito Light</vt:lpstr>
      <vt:lpstr>Hind Madurai</vt:lpstr>
      <vt:lpstr>Lexend Deca</vt:lpstr>
      <vt:lpstr>Arial</vt:lpstr>
      <vt:lpstr>Kumbh Sans</vt:lpstr>
      <vt:lpstr>Air Quality Index (AQI) by Slidesgo</vt:lpstr>
      <vt:lpstr>Pune Smart City Environmental Sensor Data Analysis (2019)</vt:lpstr>
      <vt:lpstr>Agenda</vt:lpstr>
      <vt:lpstr>Problem Statement</vt:lpstr>
      <vt:lpstr>Dataset Overview and Feature Classification</vt:lpstr>
      <vt:lpstr>Data Cleaning and Preprocessing</vt:lpstr>
      <vt:lpstr>Data Quality Assessment</vt:lpstr>
      <vt:lpstr>MONITORING LOCATIONS ANALYSIS</vt:lpstr>
      <vt:lpstr>DISTRIBUTION OF KEY AIR POLLUTANTS</vt:lpstr>
      <vt:lpstr>ENVIRONMENTAL FACTORS DISTRIBUTION</vt:lpstr>
      <vt:lpstr>VARIABILITY ANALYSIS</vt:lpstr>
      <vt:lpstr>CORRELATION ANALYSIS</vt:lpstr>
      <vt:lpstr>AQI PRIORITY PARAMETERS</vt:lpstr>
      <vt:lpstr>SPATIAL ANALYSIS – POLLUTION HOTSPOTS</vt:lpstr>
      <vt:lpstr>TEMPORAL ANALYSIS</vt:lpstr>
      <vt:lpstr>MOST POLLUTED LOCATIONS</vt:lpstr>
      <vt:lpstr>STABILITY ANALYSIS</vt:lpstr>
      <vt:lpstr>CLUSTERING LOCATIONS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HITESH DONGARWAR</cp:lastModifiedBy>
  <cp:revision>13</cp:revision>
  <dcterms:modified xsi:type="dcterms:W3CDTF">2026-02-11T10:01:22Z</dcterms:modified>
</cp:coreProperties>
</file>